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Automated Circuit Failover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C2A8"/>
                </a:solidFill>
                <a:latin typeface="Calibri"/>
              </a:rPr>
              <a:t>NetBox Cloud  ·  Ansible Automation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0BCCC"/>
                </a:solidFill>
                <a:latin typeface="Calibri"/>
              </a:rPr>
              <a:t>Red Hat Summit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B0BCCC"/>
                </a:solidFill>
                <a:latin typeface="Calibri"/>
              </a:rPr>
              <a:t>Matt York  |  Sales Engineer, NetBox Labs</a:t>
            </a:r>
          </a:p>
        </p:txBody>
      </p:sp>
      <p:pic>
        <p:nvPicPr>
          <p:cNvPr id="7" name="Picture 6" descr="netbox_logo_b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552" y="5779008"/>
            <a:ext cx="1828800" cy="5166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A8"/>
                </a:solidFill>
                <a:latin typeface="Calibri"/>
              </a:rPr>
              <a:t>A Customer Came to Us With a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30000" cy="3200400"/>
          </a:xfrm>
          <a:prstGeom prst="rect">
            <a:avLst/>
          </a:prstGeom>
          <a:solidFill>
            <a:srgbClr val="142A3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“Our intercontinental IPLC link between Bristol and Atlanta went 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We had a secondary link available. But it took our team 45 minutes to find it,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identify which routers were affected, and manually reconfigure the failover path.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In that 45 minutes, we lost hundreds of thousands of dollars in business.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F4444"/>
                </a:solidFill>
                <a:latin typeface="Calibri"/>
              </a:rPr>
              <a:t>We need to make sure this never happens again.”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43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CCC"/>
                </a:solidFill>
                <a:latin typeface="Calibri"/>
              </a:rPr>
              <a:t>Enterprise Network Customer  |  Intercontinental WAN Operations</a:t>
            </a:r>
          </a:p>
        </p:txBody>
      </p:sp>
      <p:pic>
        <p:nvPicPr>
          <p:cNvPr id="11" name="Picture 10" descr="netbox_logo_b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2" y="6053328"/>
            <a:ext cx="1280160" cy="3616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A8"/>
                </a:solidFill>
                <a:latin typeface="Calibri"/>
              </a:rPr>
              <a:t>When a Circuit Fails, Three Things Have to Happen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B0BCCC"/>
                </a:solidFill>
                <a:latin typeface="Calibri"/>
              </a:rPr>
              <a:t>Every time. Under pressure. With the clock running.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00200"/>
            <a:ext cx="50292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508760"/>
            <a:ext cx="10789920" cy="1417320"/>
          </a:xfrm>
          <a:prstGeom prst="rect">
            <a:avLst/>
          </a:prstGeom>
          <a:solidFill>
            <a:srgbClr val="142A3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00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F4444"/>
                </a:solidFill>
                <a:latin typeface="Calibri"/>
              </a:rPr>
              <a:t>Disable the failed circuit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Identify the failed link, confirm it is down, and mark it as offline in your systems.
With no single source of truth, just finding it can take 10–15 minutes.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200400"/>
            <a:ext cx="502920" cy="502920"/>
          </a:xfrm>
          <a:prstGeom prst="rect">
            <a:avLst/>
          </a:prstGeom>
          <a:solidFill>
            <a:srgbClr val="F59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1821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108960"/>
            <a:ext cx="10789920" cy="1417320"/>
          </a:xfrm>
          <a:prstGeom prst="rect">
            <a:avLst/>
          </a:prstGeom>
          <a:solidFill>
            <a:srgbClr val="142A3E"/>
          </a:solidFill>
          <a:ln w="19050">
            <a:solidFill>
              <a:srgbClr val="F59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E"/>
                </a:solidFill>
                <a:latin typeface="Calibri"/>
              </a:rPr>
              <a:t>Fail over to the most appropriate alternative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576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Find a backup circuit that serves the same sites. Determine which routers are involved.
Choose the best option based on capacity and cost — manually, from memory or spreadsheets.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800600"/>
            <a:ext cx="502920" cy="5029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4782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709160"/>
            <a:ext cx="10789920" cy="1417320"/>
          </a:xfrm>
          <a:prstGeom prst="rect">
            <a:avLst/>
          </a:prstGeom>
          <a:solidFill>
            <a:srgbClr val="142A3E"/>
          </a:solidFill>
          <a:ln w="19050"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800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2A8"/>
                </a:solidFill>
                <a:latin typeface="Calibri"/>
              </a:rPr>
              <a:t>Document everything for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2578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Record what failed, when, what was done, and who made each decision.
This is often skipped under pressure — or done hours later from memory.</a:t>
            </a:r>
          </a:p>
        </p:txBody>
      </p:sp>
      <p:pic>
        <p:nvPicPr>
          <p:cNvPr id="20" name="Picture 19" descr="netbox_logo_b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2" y="6053328"/>
            <a:ext cx="1280160" cy="3616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A8"/>
                </a:solidFill>
                <a:latin typeface="Calibri"/>
              </a:rPr>
              <a:t>Why Did It Take 45 Minutes?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097280" cy="384048"/>
          </a:xfrm>
          <a:prstGeom prst="rect">
            <a:avLst/>
          </a:prstGeom>
          <a:solidFill>
            <a:srgbClr val="142A3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4241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0:00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515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Alert fires. Engineers are paged.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1097280" cy="384048"/>
          </a:xfrm>
          <a:prstGeom prst="rect">
            <a:avLst/>
          </a:prstGeom>
          <a:solidFill>
            <a:srgbClr val="142A3E"/>
          </a:solidFill>
          <a:ln w="19050">
            <a:solidFill>
              <a:srgbClr val="F59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1790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E"/>
                </a:solidFill>
                <a:latin typeface="Calibri"/>
              </a:rPr>
              <a:t>0:05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5270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Team opens spreadsheets and old Visio diagrams to find the secondary circuit.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56816"/>
            <a:ext cx="1097280" cy="384048"/>
          </a:xfrm>
          <a:prstGeom prst="rect">
            <a:avLst/>
          </a:prstGeom>
          <a:solidFill>
            <a:srgbClr val="142A3E"/>
          </a:solidFill>
          <a:ln w="19050">
            <a:solidFill>
              <a:srgbClr val="F59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933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E"/>
                </a:solidFill>
                <a:latin typeface="Calibri"/>
              </a:rPr>
              <a:t>0:15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00253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Secondary circuit details found — but which routers does it use?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32304"/>
            <a:ext cx="1097280" cy="384048"/>
          </a:xfrm>
          <a:prstGeom prst="rect">
            <a:avLst/>
          </a:prstGeom>
          <a:solidFill>
            <a:srgbClr val="142A3E"/>
          </a:solidFill>
          <a:ln w="19050">
            <a:solidFill>
              <a:srgbClr val="F59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4688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E"/>
                </a:solidFill>
                <a:latin typeface="Calibri"/>
              </a:rPr>
              <a:t>0:22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47802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Cross-reference IPAM, check interface logs, ask a colleague who “knows the network”.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07792"/>
            <a:ext cx="1097280" cy="384048"/>
          </a:xfrm>
          <a:prstGeom prst="rect">
            <a:avLst/>
          </a:prstGeom>
          <a:solidFill>
            <a:srgbClr val="142A3E"/>
          </a:solidFill>
          <a:ln w="19050">
            <a:solidFill>
              <a:srgbClr val="F59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9443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E"/>
                </a:solidFill>
                <a:latin typeface="Calibri"/>
              </a:rPr>
              <a:t>0:30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9535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SSH into Bristol router. Find the right interface. Apply config.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83280"/>
            <a:ext cx="1097280" cy="384048"/>
          </a:xfrm>
          <a:prstGeom prst="rect">
            <a:avLst/>
          </a:prstGeom>
          <a:solidFill>
            <a:srgbClr val="142A3E"/>
          </a:solidFill>
          <a:ln w="19050">
            <a:solidFill>
              <a:srgbClr val="F59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4198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E"/>
                </a:solidFill>
                <a:latin typeface="Calibri"/>
              </a:rPr>
              <a:t>0:37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4290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SSH into Atlanta router. Repeat.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58768"/>
            <a:ext cx="1097280" cy="384048"/>
          </a:xfrm>
          <a:prstGeom prst="rect">
            <a:avLst/>
          </a:prstGeom>
          <a:solidFill>
            <a:srgbClr val="142A3E"/>
          </a:solidFill>
          <a:ln w="19050">
            <a:solidFill>
              <a:srgbClr val="F59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8953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E"/>
                </a:solidFill>
                <a:latin typeface="Calibri"/>
              </a:rPr>
              <a:t>0:43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90448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Test connectivity. Something is wrong. Roll back. Try again.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334256"/>
            <a:ext cx="1097280" cy="384048"/>
          </a:xfrm>
          <a:prstGeom prst="rect">
            <a:avLst/>
          </a:prstGeom>
          <a:solidFill>
            <a:srgbClr val="142A3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3708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  <a:latin typeface="Calibri"/>
              </a:rPr>
              <a:t>0:45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37997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Traffic restored. Documentation updated... maybe.</a:t>
            </a:r>
          </a:p>
        </p:txBody>
      </p:sp>
      <p:pic>
        <p:nvPicPr>
          <p:cNvPr id="28" name="Picture 27" descr="netbox_logo_b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2" y="6053328"/>
            <a:ext cx="1280160" cy="3616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A8"/>
                </a:solidFill>
                <a:latin typeface="Calibri"/>
              </a:rPr>
              <a:t>The Root Cause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3657600" cy="5029200"/>
          </a:xfrm>
          <a:prstGeom prst="rect">
            <a:avLst/>
          </a:prstGeom>
          <a:solidFill>
            <a:srgbClr val="142A3E"/>
          </a:solidFill>
          <a:ln w="19050">
            <a:solidFill>
              <a:srgbClr val="F59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E"/>
                </a:solidFill>
                <a:latin typeface="Calibri"/>
              </a:rPr>
              <a:t>No single source of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Circuit inventory lived in spreadsheets, Visio diagrams, and people’s heads. No one system had the full picture.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097280"/>
            <a:ext cx="3657600" cy="5029200"/>
          </a:xfrm>
          <a:prstGeom prst="rect">
            <a:avLst/>
          </a:prstGeom>
          <a:solidFill>
            <a:srgbClr val="142A3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2801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F4444"/>
                </a:solidFill>
                <a:latin typeface="Calibri"/>
              </a:rPr>
              <a:t>No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05740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Every failover step was manual: find the backup, identify the routers, SSH in, apply config, test, document.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097280"/>
            <a:ext cx="3657600" cy="5029200"/>
          </a:xfrm>
          <a:prstGeom prst="rect">
            <a:avLst/>
          </a:prstGeom>
          <a:solidFill>
            <a:srgbClr val="142A3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2801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F4444"/>
                </a:solidFill>
                <a:latin typeface="Calibri"/>
              </a:rPr>
              <a:t>No 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05740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After the incident, the team couldn’t easily answer: what changed, when, and who made the call?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0BCCC"/>
                </a:solidFill>
                <a:latin typeface="Calibri"/>
              </a:rPr>
              <a:t>The technology existed to fix all three of these problems. It just wasn’t joined up.</a:t>
            </a:r>
          </a:p>
        </p:txBody>
      </p:sp>
      <p:pic>
        <p:nvPicPr>
          <p:cNvPr id="14" name="Picture 13" descr="netbox_logo_b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2" y="6053328"/>
            <a:ext cx="1280160" cy="3616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A8"/>
                </a:solidFill>
                <a:latin typeface="Calibri"/>
              </a:rPr>
              <a:t>What We Recommended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657600" cy="5303520"/>
          </a:xfrm>
          <a:prstGeom prst="rect">
            <a:avLst/>
          </a:prstGeom>
          <a:solidFill>
            <a:srgbClr val="142A3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  <a:latin typeface="Calibri"/>
              </a:rPr>
              <a:t>The old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CCC"/>
                </a:solidFill>
                <a:latin typeface="Calibri"/>
              </a:rPr>
              <a:t>✗  Spreadsheet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CCC"/>
                </a:solidFill>
                <a:latin typeface="Calibri"/>
              </a:rPr>
              <a:t>✗  Manual failover runbooks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CCC"/>
                </a:solidFill>
                <a:latin typeface="Calibri"/>
              </a:rPr>
              <a:t>✗  45+ minute MTTR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CCC"/>
                </a:solidFill>
                <a:latin typeface="Calibri"/>
              </a:rPr>
              <a:t>✗  No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CCC"/>
                </a:solidFill>
                <a:latin typeface="Calibri"/>
              </a:rPr>
              <a:t>✗  Stale 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CCC"/>
                </a:solidFill>
                <a:latin typeface="Calibri"/>
              </a:rPr>
              <a:t>✗  Errors under pressure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383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C2A8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005840"/>
            <a:ext cx="6949440" cy="5303520"/>
          </a:xfrm>
          <a:prstGeom prst="rect">
            <a:avLst/>
          </a:prstGeom>
          <a:solidFill>
            <a:srgbClr val="142A3E"/>
          </a:solidFill>
          <a:ln w="19050"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1430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2A8"/>
                </a:solidFill>
                <a:latin typeface="Calibri"/>
              </a:rPr>
              <a:t>The NetBox + AAP world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7373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A8"/>
                </a:solidFill>
                <a:latin typeface="Calibri"/>
              </a:rPr>
              <a:t>✓  1. Disable the failed circuit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7373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Copilot AI marks it offline in NetBox with a single sentence. No spreadsheet hunting.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194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A8"/>
                </a:solidFill>
                <a:latin typeface="Calibri"/>
              </a:rPr>
              <a:t>✓  2. Fail over to the best alternative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1945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AAP queries NetBox, finds the highest-capacity backup, pushes router config automatically.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6517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A8"/>
                </a:solidFill>
                <a:latin typeface="Calibri"/>
              </a:rPr>
              <a:t>✓  3. Document for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6517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AAP generates a full incident report: what failed, what ran, who triggered it, timestamps.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108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A8"/>
                </a:solidFill>
                <a:latin typeface="Calibri"/>
              </a:rPr>
              <a:t>✓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1089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566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A8"/>
                </a:solidFill>
                <a:latin typeface="Calibri"/>
              </a:rPr>
              <a:t>✓  Visual Explorer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5661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Live topology map shows the new state the moment the workflow completes.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0233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A8"/>
                </a:solidFill>
                <a:latin typeface="Calibri"/>
              </a:rPr>
              <a:t>✓  Full audit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0233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Every action recorded in NetBox change log and AAP job history.</a:t>
            </a:r>
          </a:p>
        </p:txBody>
      </p:sp>
      <p:pic>
        <p:nvPicPr>
          <p:cNvPr id="27" name="Picture 26" descr="netbox_logo_b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2" y="6053328"/>
            <a:ext cx="1280160" cy="3616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A8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•  NetBox Cloud holds every circuit, device, and connection as structured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•  Copilot AI translates plain English into a precise API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5798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•  A circuit status change fires a webhook to AAP automatically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8833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•  AAP discovers the best backup circuit dynamically from NetBox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186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•  Router config is pushed and NetBox is updated in a single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•  Visual Explorer map reflects the new topology in real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793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•  Automated failover: under 30 seconds  ·  Full audit trail</a:t>
            </a:r>
          </a:p>
        </p:txBody>
      </p:sp>
      <p:pic>
        <p:nvPicPr>
          <p:cNvPr id="11" name="Picture 10" descr="netbox_logo_b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2" y="6053328"/>
            <a:ext cx="1280160" cy="3616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A8"/>
                </a:solidFill>
                <a:latin typeface="Calibri"/>
              </a:rPr>
              <a:t>Architecture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0972800" cy="2514600"/>
          </a:xfrm>
          <a:prstGeom prst="rect">
            <a:avLst/>
          </a:prstGeom>
        </p:spPr>
      </p:pic>
      <p:pic>
        <p:nvPicPr>
          <p:cNvPr id="5" name="Picture 4" descr="netbox_logo_b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053328"/>
            <a:ext cx="1280160" cy="3616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A8"/>
                </a:solidFill>
                <a:latin typeface="Calibri"/>
              </a:rPr>
              <a:t>Demo Sequence</a:t>
            </a:r>
          </a:p>
        </p:txBody>
      </p:sp>
      <p:pic>
        <p:nvPicPr>
          <p:cNvPr id="4" name="Picture 3" descr="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789920" cy="3596640"/>
          </a:xfrm>
          <a:prstGeom prst="rect">
            <a:avLst/>
          </a:prstGeom>
        </p:spPr>
      </p:pic>
      <p:pic>
        <p:nvPicPr>
          <p:cNvPr id="5" name="Picture 4" descr="netbox_logo_b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6053328"/>
            <a:ext cx="1280160" cy="3616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A8"/>
                </a:solidFill>
                <a:latin typeface="Calibri"/>
              </a:rPr>
              <a:t>Demo Flow — 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347472" cy="347472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9184" y="10241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05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A8"/>
                </a:solidFill>
                <a:latin typeface="Calibri"/>
              </a:rPr>
              <a:t>Visual Explorer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0058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Open the global WAN map — GB-Bristol hub with active circuit to US-Atlanta via IPLC-GB-AT-PRI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27048"/>
            <a:ext cx="347472" cy="347472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1499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813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A8"/>
                </a:solidFill>
                <a:latin typeface="Calibri"/>
              </a:rPr>
              <a:t>Copilot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48132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Tell Copilot: “IPLC-GB-AT-PRI has failed — set it to offline”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02536"/>
            <a:ext cx="347472" cy="347472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19751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568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A8"/>
                </a:solidFill>
                <a:latin typeface="Calibri"/>
              </a:rPr>
              <a:t>AAP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1956816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NetBox event rule fires webhook → AAP launches Circuit Failover Workflow automatically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78024"/>
            <a:ext cx="347472" cy="347472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24505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43230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A8"/>
                </a:solidFill>
                <a:latin typeface="Calibri"/>
              </a:rPr>
              <a:t>Step 1: Failover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43230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Playbook queries NetBox, finds backup (IPLC-GB-AT-SEC), pushes router config, updates NetBox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953512"/>
            <a:ext cx="347472" cy="347472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" y="29260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9077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A8"/>
                </a:solidFill>
                <a:latin typeface="Calibri"/>
              </a:rPr>
              <a:t>Step 2: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907792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Second workflow step generates HTML incident report and deploys it to the report server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429000"/>
            <a:ext cx="347472" cy="347472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" y="34015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3832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A8"/>
                </a:solidFill>
                <a:latin typeface="Calibri"/>
              </a:rPr>
              <a:t>Visual Explorer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38328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Refresh map — primary circuit gone, backup confirmed active on new router path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904488"/>
            <a:ext cx="347472" cy="347472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38770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8587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A8"/>
                </a:solidFill>
                <a:latin typeface="Calibri"/>
              </a:rPr>
              <a:t>Claude + MCP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38587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Ask Claude: “What is the current status of IPLC-GB-AT-PRI?” — live NetBox data confirms</a:t>
            </a:r>
          </a:p>
        </p:txBody>
      </p:sp>
      <p:pic>
        <p:nvPicPr>
          <p:cNvPr id="32" name="Picture 31" descr="netbox_logo_b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2" y="6053328"/>
            <a:ext cx="1280160" cy="3616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A8"/>
                </a:solidFill>
                <a:latin typeface="Calibri"/>
              </a:rPr>
              <a:t>The Playbook: Driven Entirely by NetBox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•  Input: just the failed circuit CID (e.g. IPLC-GB-AT-PRI)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•  Discovers A-side and Z-side sites from circuit terminations in NetBox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5798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•  Finds all active circuits between those two sites tagged for failover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8833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•  Selects the best backup by highest committed bandwidth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186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•  No hardcoded backup mappings — add a new circuit to NetBox and it is automatically considered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•  Pushes router config changes to all routers at both 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793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•  Writes back to NetBox: primary → offline, backup → 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974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•  Generates and publishes the HTML failover incident report</a:t>
            </a:r>
          </a:p>
        </p:txBody>
      </p:sp>
      <p:pic>
        <p:nvPicPr>
          <p:cNvPr id="12" name="Picture 11" descr="netbox_logo_b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2" y="6053328"/>
            <a:ext cx="1280160" cy="3616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A8"/>
                </a:solidFill>
                <a:latin typeface="Calibri"/>
              </a:rPr>
              <a:t>The Business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394960" cy="2011680"/>
          </a:xfrm>
          <a:prstGeom prst="rect">
            <a:avLst/>
          </a:prstGeom>
          <a:solidFill>
            <a:srgbClr val="142A3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EF4444"/>
                </a:solidFill>
                <a:latin typeface="Calibri"/>
              </a:rPr>
              <a:t>~45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0BCCC"/>
                </a:solidFill>
                <a:latin typeface="Calibri"/>
              </a:rPr>
              <a:t>Manual failover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05840"/>
            <a:ext cx="5394960" cy="2011680"/>
          </a:xfrm>
          <a:prstGeom prst="rect">
            <a:avLst/>
          </a:prstGeom>
          <a:solidFill>
            <a:srgbClr val="142A3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22C55E"/>
                </a:solidFill>
                <a:latin typeface="Calibri"/>
              </a:rPr>
              <a:t>&lt; 30 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0BCCC"/>
                </a:solidFill>
                <a:latin typeface="Calibri"/>
              </a:rPr>
              <a:t>Automated failover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❖  NetBox is not just a CMDB — it is an active source of truth that drives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2160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❖  The moment a circuit changes state, the response is already running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97096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❖  The playbook discovers backup paths dynamically — works for any circuit, any 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72584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❖  Every failover is logged in NetBox, captured in AAP job history, and published as a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4807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❖  MCP lets Claude query live NetBox data — confirm outcomes in natural language</a:t>
            </a:r>
          </a:p>
        </p:txBody>
      </p:sp>
      <p:pic>
        <p:nvPicPr>
          <p:cNvPr id="15" name="Picture 14" descr="netbox_logo_b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2" y="6053328"/>
            <a:ext cx="1280160" cy="3616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A8"/>
                </a:solidFill>
                <a:latin typeface="Calibri"/>
              </a:rPr>
              <a:t>Step 7: Confirm with Claude + NetBox MCP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114800" cy="5394960"/>
          </a:xfrm>
          <a:prstGeom prst="rect">
            <a:avLst/>
          </a:prstGeom>
          <a:solidFill>
            <a:srgbClr val="142A3E"/>
          </a:solidFill>
          <a:ln w="19050"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A8"/>
                </a:solidFill>
                <a:latin typeface="Calibri"/>
              </a:rPr>
              <a:t>What is the NetBox MCP Server?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 Runs on a dedicated AWS VM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 Connected to your NetBox Cloud instance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79776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 Read-only — queries only, no writes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46704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 Accessed via SSH stdio transport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1363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 Registered once with Claude Code:
claude mcp add netbox-mcp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056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 Claude calls NetBox API tools
automatically behind the scenes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960120"/>
            <a:ext cx="7223760" cy="5394960"/>
          </a:xfrm>
          <a:prstGeom prst="rect">
            <a:avLst/>
          </a:prstGeom>
          <a:solidFill>
            <a:srgbClr val="142A3E"/>
          </a:solidFill>
          <a:ln w="19050">
            <a:solidFill>
              <a:srgbClr val="B0B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0972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BCCC"/>
                </a:solidFill>
                <a:latin typeface="Calibri"/>
              </a:rPr>
              <a:t>Example queries at the end of the demo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691640"/>
            <a:ext cx="6949440" cy="384048"/>
          </a:xfrm>
          <a:prstGeom prst="rect">
            <a:avLst/>
          </a:prstGeom>
          <a:solidFill>
            <a:srgbClr val="0D2E4A"/>
          </a:solidFill>
          <a:ln w="19050"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728216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A8"/>
                </a:solidFill>
                <a:latin typeface="Calibri"/>
              </a:rPr>
              <a:t>❯  What is the current status of IPLC-GB-AT-PRI?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112264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CCC"/>
                </a:solidFill>
                <a:latin typeface="Calibri"/>
              </a:rPr>
              <a:t>    Confirms: Offline — the failed circuit is recorded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660904"/>
            <a:ext cx="6949440" cy="384048"/>
          </a:xfrm>
          <a:prstGeom prst="rect">
            <a:avLst/>
          </a:prstGeom>
          <a:solidFill>
            <a:srgbClr val="0D2E4A"/>
          </a:solidFill>
          <a:ln w="19050"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2697480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A8"/>
                </a:solidFill>
                <a:latin typeface="Calibri"/>
              </a:rPr>
              <a:t>❯  What is the status of IPLC-GB-AT-SEC?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081528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CCC"/>
                </a:solidFill>
                <a:latin typeface="Calibri"/>
              </a:rPr>
              <a:t>    Confirms: Active — the backup is live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630168"/>
            <a:ext cx="6949440" cy="384048"/>
          </a:xfrm>
          <a:prstGeom prst="rect">
            <a:avLst/>
          </a:prstGeom>
          <a:solidFill>
            <a:srgbClr val="0D2E4A"/>
          </a:solidFill>
          <a:ln w="19050"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3666744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A8"/>
                </a:solidFill>
                <a:latin typeface="Calibri"/>
              </a:rPr>
              <a:t>❯  Show me all active circuits between GB-Bristol and US-Atlanta.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4050792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CCC"/>
                </a:solidFill>
                <a:latin typeface="Calibri"/>
              </a:rPr>
              <a:t>    Lists the surviving circuits on that route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4599432"/>
            <a:ext cx="6949440" cy="384048"/>
          </a:xfrm>
          <a:prstGeom prst="rect">
            <a:avLst/>
          </a:prstGeom>
          <a:solidFill>
            <a:srgbClr val="0D2E4A"/>
          </a:solidFill>
          <a:ln w="19050"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636008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A8"/>
                </a:solidFill>
                <a:latin typeface="Calibri"/>
              </a:rPr>
              <a:t>❯  Which circuits are currently not active?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020056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CCC"/>
                </a:solidFill>
                <a:latin typeface="Calibri"/>
              </a:rPr>
              <a:t>    Full view of any degraded paths across the WAN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5568696"/>
            <a:ext cx="6949440" cy="384048"/>
          </a:xfrm>
          <a:prstGeom prst="rect">
            <a:avLst/>
          </a:prstGeom>
          <a:solidFill>
            <a:srgbClr val="0D2E4A"/>
          </a:solidFill>
          <a:ln w="19050"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5605272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A8"/>
                </a:solidFill>
                <a:latin typeface="Calibri"/>
              </a:rPr>
              <a:t>❯  When was IPLC-GB-AT-PRI last changed, and by whom?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5989320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CCC"/>
                </a:solidFill>
                <a:latin typeface="Calibri"/>
              </a:rPr>
              <a:t>    Audit trail: timestamp and username from NetBox change log</a:t>
            </a:r>
          </a:p>
        </p:txBody>
      </p:sp>
      <p:pic>
        <p:nvPicPr>
          <p:cNvPr id="29" name="Picture 28" descr="netbox_logo_b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2" y="6053328"/>
            <a:ext cx="1280160" cy="3616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