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Automated Circuit Failover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0C2A8"/>
                </a:solidFill>
                <a:latin typeface="Calibri"/>
              </a:rPr>
              <a:t>NetBox Cloud  ·  Ansible Automation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0BCCC"/>
                </a:solidFill>
                <a:latin typeface="Calibri"/>
              </a:rPr>
              <a:t>Red Hat Summit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B0BCCC"/>
                </a:solidFill>
                <a:latin typeface="Calibri"/>
              </a:rPr>
              <a:t>Matt York  |  Sales Engineer, NetBox Labs</a:t>
            </a:r>
          </a:p>
        </p:txBody>
      </p:sp>
      <p:pic>
        <p:nvPicPr>
          <p:cNvPr id="7" name="Picture 6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2" y="5779008"/>
            <a:ext cx="1828800" cy="5166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A Customer Came to Us With a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3200400"/>
          </a:xfrm>
          <a:prstGeom prst="rect">
            <a:avLst/>
          </a:prstGeom>
          <a:solidFill>
            <a:srgbClr val="142A3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“Our intercontinental IPLC link between Bristol and Atlanta went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We had a secondary link available. But it took our team 45 minutes to find it,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identify which routers were affected, and manually reconfigure the failover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In that 45 minutes, we lost hundreds of thousands of dollars in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F4444"/>
                </a:solidFill>
                <a:latin typeface="Calibri"/>
              </a:rPr>
              <a:t>We need to make sure this never happens again.”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BCCC"/>
                </a:solidFill>
                <a:latin typeface="Calibri"/>
              </a:rPr>
              <a:t>Enterprise Network Customer  |  Intercontinental WAN Operations</a:t>
            </a:r>
          </a:p>
        </p:txBody>
      </p:sp>
      <p:pic>
        <p:nvPicPr>
          <p:cNvPr id="11" name="Picture 10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Why Did It Take 45 Minutes?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4241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F4444"/>
                </a:solidFill>
                <a:latin typeface="Calibri"/>
              </a:rPr>
              <a:t>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0515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Alert fires. Engineers are paged.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81328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F59E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17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E"/>
                </a:solidFill>
                <a:latin typeface="Calibri"/>
              </a:rPr>
              <a:t>0:05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52704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Team opens spreadsheets and old Visio diagrams to find the secondary circuit.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56816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F59E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933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E"/>
                </a:solidFill>
                <a:latin typeface="Calibri"/>
              </a:rPr>
              <a:t>0:15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002536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Secondary circuit details found — but which routers does it use?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32304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F59E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4688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E"/>
                </a:solidFill>
                <a:latin typeface="Calibri"/>
              </a:rPr>
              <a:t>0:22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478024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Cross-reference IPAM, check interface logs, ask a colleague who “knows the network”.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07792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F59E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443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E"/>
                </a:solidFill>
                <a:latin typeface="Calibri"/>
              </a:rPr>
              <a:t>0:30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9535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SSH into Bristol router. Find the right interface. Apply config.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F59E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4198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E"/>
                </a:solidFill>
                <a:latin typeface="Calibri"/>
              </a:rPr>
              <a:t>0:37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4290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SSH into Atlanta router. Repeat.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58768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F59E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8953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E"/>
                </a:solidFill>
                <a:latin typeface="Calibri"/>
              </a:rPr>
              <a:t>0:43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90448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Test connectivity. Something is wrong. Roll back. Try again.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334256"/>
            <a:ext cx="1097280" cy="384048"/>
          </a:xfrm>
          <a:prstGeom prst="rect">
            <a:avLst/>
          </a:prstGeom>
          <a:solidFill>
            <a:srgbClr val="142A3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0:45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379976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Traffic restored. Documentation updated... maybe.</a:t>
            </a:r>
          </a:p>
        </p:txBody>
      </p:sp>
      <p:pic>
        <p:nvPicPr>
          <p:cNvPr id="28" name="Picture 27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The Root Cause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657600" cy="5029200"/>
          </a:xfrm>
          <a:prstGeom prst="rect">
            <a:avLst/>
          </a:prstGeom>
          <a:solidFill>
            <a:srgbClr val="142A3E"/>
          </a:solidFill>
          <a:ln w="19050">
            <a:solidFill>
              <a:srgbClr val="F59E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E"/>
                </a:solidFill>
                <a:latin typeface="Calibri"/>
              </a:rPr>
              <a:t>No single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Circuit inventory lived in spreadsheets, Visio diagrams, and people’s heads. No one system had the full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3657600" cy="5029200"/>
          </a:xfrm>
          <a:prstGeom prst="rect">
            <a:avLst/>
          </a:prstGeom>
          <a:solidFill>
            <a:srgbClr val="142A3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80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F4444"/>
                </a:solidFill>
                <a:latin typeface="Calibri"/>
              </a:rPr>
              <a:t>No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Every failover step was manual: find the backup, identify the routers, SSH in, apply config, test, document.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1097280"/>
            <a:ext cx="3657600" cy="5029200"/>
          </a:xfrm>
          <a:prstGeom prst="rect">
            <a:avLst/>
          </a:prstGeom>
          <a:solidFill>
            <a:srgbClr val="142A3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280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F4444"/>
                </a:solidFill>
                <a:latin typeface="Calibri"/>
              </a:rPr>
              <a:t>No 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5740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After the incident, the team couldn’t easily answer: what changed, when, and who made the call?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B0BCCC"/>
                </a:solidFill>
                <a:latin typeface="Calibri"/>
              </a:rPr>
              <a:t>The technology existed to fix all three of these problems. It just wasn’t joined up.</a:t>
            </a:r>
          </a:p>
        </p:txBody>
      </p:sp>
      <p:pic>
        <p:nvPicPr>
          <p:cNvPr id="14" name="Picture 13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What We Recommended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3657600" cy="5303520"/>
          </a:xfrm>
          <a:prstGeom prst="rect">
            <a:avLst/>
          </a:prstGeom>
          <a:solidFill>
            <a:srgbClr val="142A3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  <a:latin typeface="Calibri"/>
              </a:rPr>
              <a:t>The old 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CCC"/>
                </a:solidFill>
                <a:latin typeface="Calibri"/>
              </a:rPr>
              <a:t>✗  Spreadsheet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CCC"/>
                </a:solidFill>
                <a:latin typeface="Calibri"/>
              </a:rPr>
              <a:t>✗  Manual failover runbooks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CCC"/>
                </a:solidFill>
                <a:latin typeface="Calibri"/>
              </a:rPr>
              <a:t>✗  45+ minute MTTR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CCC"/>
                </a:solidFill>
                <a:latin typeface="Calibri"/>
              </a:rPr>
              <a:t>✗  No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CCC"/>
                </a:solidFill>
                <a:latin typeface="Calibri"/>
              </a:rPr>
              <a:t>✗  Stale 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BCCC"/>
                </a:solidFill>
                <a:latin typeface="Calibri"/>
              </a:rPr>
              <a:t>✗  Errors under pressure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832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C2A8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005840"/>
            <a:ext cx="6949440" cy="5303520"/>
          </a:xfrm>
          <a:prstGeom prst="rect">
            <a:avLst/>
          </a:prstGeom>
          <a:solidFill>
            <a:srgbClr val="142A3E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1430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2A8"/>
                </a:solidFill>
                <a:latin typeface="Calibri"/>
              </a:rPr>
              <a:t>The NetBox + AAP world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7373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✓  NetBox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7373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Single source of truth for every circuit, device, and connection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✓  Copilot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1945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Translate operator intent into precise API actions, no CLI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6517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✓  Event-driven webhook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6517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 status change in NetBox triggers automation instantly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✓  AAP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108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Discovers the backup dynamically, pushes config, updates NetBox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5661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✓  Visual Explorer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5661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Live topology map reflects the new state immediately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0233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✓  Full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0233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Every change recorded in NetBox and AAP job history</a:t>
            </a:r>
          </a:p>
        </p:txBody>
      </p:sp>
      <p:pic>
        <p:nvPicPr>
          <p:cNvPr id="27" name="Picture 26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NetBox Cloud holds every circuit, device, and connection as structured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Copilot AI translates plain English into a precise API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79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 circuit status change fires a webhook to AAP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AAP discovers the best backup circuit dynamically from NetBox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186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Router config is pushed and NetBox is updated in a single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Visual Explorer map reflects the new topology in real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7939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Automated failover: under 30 seconds  ·  Full audit trail</a:t>
            </a:r>
          </a:p>
        </p:txBody>
      </p:sp>
      <p:pic>
        <p:nvPicPr>
          <p:cNvPr id="11" name="Picture 10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0972800" cy="2514600"/>
          </a:xfrm>
          <a:prstGeom prst="rect">
            <a:avLst/>
          </a:prstGeom>
        </p:spPr>
      </p:pic>
      <p:pic>
        <p:nvPicPr>
          <p:cNvPr id="5" name="Picture 4" descr="netbox_logo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Demo Sequence</a:t>
            </a:r>
          </a:p>
        </p:txBody>
      </p:sp>
      <p:pic>
        <p:nvPicPr>
          <p:cNvPr id="4" name="Picture 3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789920" cy="3596640"/>
          </a:xfrm>
          <a:prstGeom prst="rect">
            <a:avLst/>
          </a:prstGeom>
        </p:spPr>
      </p:pic>
      <p:pic>
        <p:nvPicPr>
          <p:cNvPr id="5" name="Picture 4" descr="netbox_logo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Demo Flow —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051560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241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Visual Explorer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00584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Open the global WAN map — GB-Bristol hub with active circuit to US-Atlanta via IPLC-GB-AT-PRI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27048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813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Copilot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48132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Tell Copilot: “IPLC-GB-AT-PRI has failed — set it to offline”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02536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97510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9568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AAP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956816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NetBox event rule fires webhook → AAP launches Circuit Failover Workflow automatically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78024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245059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3230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Step 1: Failover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432304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Playbook queries NetBox, finds backup (IPLC-GB-AT-SEC), pushes router config, updates NetBox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953512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29260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907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Step 2: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2907792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Second workflow step generates HTML incident report and deploys it to the report server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429000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340156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383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Visual Explorer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383280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Refresh map — primary circuit gone, backup confirmed active on new router path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904488"/>
            <a:ext cx="347472" cy="347472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" y="38770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8587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Claude + MCP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3858768"/>
            <a:ext cx="8961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Ask Claude: “What is the current status of IPLC-GB-AT-PRI?” — live NetBox data confirms</a:t>
            </a:r>
          </a:p>
        </p:txBody>
      </p:sp>
      <p:pic>
        <p:nvPicPr>
          <p:cNvPr id="32" name="Picture 31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The Playbook: Driven Entirely by NetBox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Input: just the failed circuit CID (e.g. IPLC-GB-AT-PRI)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Discovers A-side and Z-side sites from circuit terminations in NetBox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798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Finds all active circuits between those two sites tagged for failover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Selects the best backup by highest committed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186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No hardcoded backup mappings — add a new circuit to NetBox and it is automatically considered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Pushes router config changes to all routers at both 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7939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Writes back to NetBox: primary → offline, backup → active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97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•  Generates and publishes the HTML failover incident report</a:t>
            </a:r>
          </a:p>
        </p:txBody>
      </p:sp>
      <p:pic>
        <p:nvPicPr>
          <p:cNvPr id="12" name="Picture 11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The Business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394960" cy="2011680"/>
          </a:xfrm>
          <a:prstGeom prst="rect">
            <a:avLst/>
          </a:prstGeom>
          <a:solidFill>
            <a:srgbClr val="142A3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F4444"/>
                </a:solidFill>
                <a:latin typeface="Calibri"/>
              </a:rPr>
              <a:t>~45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0BCCC"/>
                </a:solidFill>
                <a:latin typeface="Calibri"/>
              </a:rPr>
              <a:t>Manual failover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394960" cy="2011680"/>
          </a:xfrm>
          <a:prstGeom prst="rect">
            <a:avLst/>
          </a:prstGeom>
          <a:solidFill>
            <a:srgbClr val="142A3E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22C55E"/>
                </a:solidFill>
                <a:latin typeface="Calibri"/>
              </a:rPr>
              <a:t>&lt; 30 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0BCCC"/>
                </a:solidFill>
                <a:latin typeface="Calibri"/>
              </a:rPr>
              <a:t>Automated failover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❖  NetBox is not just a CMDB — it is an active source of truth that drives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2160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❖  The moment a circuit changes state, the response is already running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97096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❖  The playbook discovers backup paths dynamically — works for any circuit, any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72584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❖  Every failover is logged in NetBox, captured in AAP job history, and published as a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4807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❖  MCP lets Claude query live NetBox data — confirm outcomes in natural language</a:t>
            </a:r>
          </a:p>
        </p:txBody>
      </p:sp>
      <p:pic>
        <p:nvPicPr>
          <p:cNvPr id="15" name="Picture 14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2A8"/>
                </a:solidFill>
                <a:latin typeface="Calibri"/>
              </a:rPr>
              <a:t>Step 7: Confirm with Claude + NetBox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4114800" cy="5394960"/>
          </a:xfrm>
          <a:prstGeom prst="rect">
            <a:avLst/>
          </a:prstGeom>
          <a:solidFill>
            <a:srgbClr val="142A3E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2A8"/>
                </a:solidFill>
                <a:latin typeface="Calibri"/>
              </a:rPr>
              <a:t>What is the NetBox MCP Server?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Runs on a dedicated AWS 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Connected to your NetBox Cloud instance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79776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Read-only — queries only, no writes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4670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Accessed via SSH stdio transport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13632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Registered once with Claude Code:
claude mcp add netbox-mcp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•  Claude calls NetBox API tools
automatically behind the scenes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960120"/>
            <a:ext cx="7223760" cy="5394960"/>
          </a:xfrm>
          <a:prstGeom prst="rect">
            <a:avLst/>
          </a:prstGeom>
          <a:solidFill>
            <a:srgbClr val="142A3E"/>
          </a:solidFill>
          <a:ln w="19050">
            <a:solidFill>
              <a:srgbClr val="B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0972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BCCC"/>
                </a:solidFill>
                <a:latin typeface="Calibri"/>
              </a:rPr>
              <a:t>Example queries at the end of the demo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691640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728216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What is the current status of IPLC-GB-AT-PRI?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112264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Confirms: Offline — the failed circuit is recorded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660904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2697480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What is the status of IPLC-GB-AT-SEC?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081528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Confirms: Active — the backup is live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630168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3666744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Show me all active circuits between GB-Bristol and US-Atlanta.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050792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Lists the surviving circuits on that route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4599432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4636008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Which circuits are currently not active?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20056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Full view of any degraded paths across the WAN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5568696"/>
            <a:ext cx="6949440" cy="384048"/>
          </a:xfrm>
          <a:prstGeom prst="rect">
            <a:avLst/>
          </a:prstGeom>
          <a:solidFill>
            <a:srgbClr val="0D2E4A"/>
          </a:solidFill>
          <a:ln w="19050">
            <a:solidFill>
              <a:srgbClr val="00C2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5605272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A8"/>
                </a:solidFill>
                <a:latin typeface="Calibri"/>
              </a:rPr>
              <a:t>❯  When was IPLC-GB-AT-PRI last changed, and by whom?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5989320"/>
            <a:ext cx="6675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BCCC"/>
                </a:solidFill>
                <a:latin typeface="Calibri"/>
              </a:rPr>
              <a:t>    Audit trail: timestamp and username from NetBox change log</a:t>
            </a:r>
          </a:p>
        </p:txBody>
      </p:sp>
      <p:pic>
        <p:nvPicPr>
          <p:cNvPr id="29" name="Picture 28" descr="netbox_logo_br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6053328"/>
            <a:ext cx="1280160" cy="3616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